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14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  <ns0:sldId id="269" ns1:id="rId20"/>
  </ns0:sldIdLst>
  <ns0:sldSz cx="12192000" cy="6858000" type="screen4x3"/>
  <ns0:notesSz cx="6858000" cy="9144000"/>
  <ns0:embeddedFontLst>
    <ns0:embeddedFont>
      <ns0:font typeface="Space Grotesk"/>
      <ns0:bold ns1:id="rIdFont21"/>
      <ns0:regular ns1:id="rIdFont22"/>
    </ns0:embeddedFont>
    <ns0:embeddedFont>
      <ns0:font typeface="Plus Jakarta Sans"/>
      <ns0:bold ns1:id="rIdFont23"/>
      <ns0:regular ns1:id="rIdFont24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20" Type="http://schemas.openxmlformats.org/officeDocument/2006/relationships/slide" Target="slides/slide14.xml" /><ns0:Relationship Id="rIdFont21" Type="http://schemas.openxmlformats.org/officeDocument/2006/relationships/font" Target="fonts/6333d614-7122-4a89-ac82-4d1d433faabb.fntdata" /><ns0:Relationship Id="rIdFont22" Type="http://schemas.openxmlformats.org/officeDocument/2006/relationships/font" Target="fonts/e10efe83-ea3c-4fb7-8ea3-74d6a39086d1.fntdata" /><ns0:Relationship Id="rIdFont23" Type="http://schemas.openxmlformats.org/officeDocument/2006/relationships/font" Target="fonts/b4b51711-48c7-4d8f-a439-a307a259d107.fntdata" /><ns0:Relationship Id="rIdFont24" Type="http://schemas.openxmlformats.org/officeDocument/2006/relationships/font" Target="fonts/5c6dd8d4-1b72-4f3f-af51-0cbac7da8fa6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0D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5038725"/>
            <a:ext cx="10972800" cy="12858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5276850"/>
            <a:ext cx="5372100" cy="1047750"/>
          </a:xfrm>
          <a:prstGeom prst="roundRect">
            <a:avLst>
              <a:gd name="adj" fmla="val 9090"/>
            </a:avLst>
          </a:prstGeom>
          <a:solidFill>
            <a:srgbClr val="241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5038725"/>
            <a:ext cx="10972800" cy="9525"/>
          </a:xfrm>
          <a:prstGeom prst="rect">
            <a:avLst/>
          </a:prstGeom>
          <a:solidFill>
            <a:srgbClr val="3720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0300" y="5276850"/>
            <a:ext cx="5372100" cy="1047750"/>
          </a:xfrm>
          <a:prstGeom prst="roundRect">
            <a:avLst>
              <a:gd name="adj" fmla="val 9090"/>
            </a:avLst>
          </a:prstGeom>
          <a:solidFill>
            <a:srgbClr val="241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9600" y="533400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8813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48875" y="619125"/>
            <a:ext cx="191690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CA3AF"/>
                </a:solidFill>
                <a:latin typeface="Space Grotesk"/>
              </a:rPr>
              <a:t>Academic Year 2026–27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067966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B7185"/>
                </a:solidFill>
                <a:latin typeface="Plus Jakarta Sans"/>
              </a:rPr>
              <a:t>SUPERVISED CLASSIFICATION BENCHMARK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2420391"/>
            <a:ext cx="9901237" cy="10075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967"/>
              </a:lnSpc>
            </a:pPr>
            <a:r>
              <a:rPr b="1" sz="3450" i="0" u="none">
                <a:solidFill>
                  <a:srgbClr val="FFFFFF"/>
                </a:solidFill>
                <a:latin typeface="Space Grotesk"/>
              </a:rPr>
              <a:t>Wine Quality Prediction Using Decision Tree, Random Forest &amp; Gradient Boosting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3580358"/>
            <a:ext cx="115824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0" sz="1500" i="0" u="none">
                <a:solidFill>
                  <a:srgbClr val="CBD5E1"/>
                </a:solidFill>
                <a:latin typeface="Plus Jakarta Sans"/>
              </a:rPr>
              <a:t>Comparative performance analysis on physicochemical attributes with ensemble consensus modeling.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725" y="533400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ECDD3"/>
                </a:solidFill>
                <a:latin typeface="Plus Jakarta Sans"/>
              </a:rPr>
              <a:t>KLH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6800" y="619125"/>
            <a:ext cx="51435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DA4AF"/>
                </a:solidFill>
                <a:latin typeface="Plus Jakarta Sans"/>
              </a:rPr>
              <a:t>DEPARTMENT OF CSE • MACHINE LEARNING CAPSTONE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5448300"/>
            <a:ext cx="61436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43F5E"/>
                </a:solidFill>
                <a:latin typeface="Plus Jakarta Sans"/>
              </a:rPr>
              <a:t>SUBMITTED BY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5676900"/>
            <a:ext cx="614362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Plus Jakarta Sans"/>
              </a:rPr>
              <a:t>M. CharanTej Reddy (2520030422)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5934075"/>
            <a:ext cx="614362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Plus Jakarta Sans"/>
              </a:rPr>
              <a:t>Chandrakanth Reddy (2520030290)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8900" y="5448300"/>
            <a:ext cx="57531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43F5E"/>
                </a:solidFill>
                <a:latin typeface="Plus Jakarta Sans"/>
              </a:rPr>
              <a:t>FACULTY SUPERVISOR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8900" y="5676900"/>
            <a:ext cx="57531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Plus Jakarta Sans"/>
              </a:rPr>
              <a:t>Dr. Jyothsna Datti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8900" y="5934075"/>
            <a:ext cx="57531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9CA3AF"/>
                </a:solidFill>
                <a:latin typeface="Plus Jakarta Sans"/>
              </a:rPr>
              <a:t>Professor, Department of CSE • KLH Off-Campus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750046"/>
            <a:ext cx="3492549" cy="2319932"/>
          </a:xfrm>
          <a:prstGeom prst="roundRect">
            <a:avLst>
              <a:gd name="adj" fmla="val 4926"/>
            </a:avLst>
          </a:prstGeom>
          <a:solidFill>
            <a:srgbClr val="FD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30749" y="2750046"/>
            <a:ext cx="3511599" cy="2319932"/>
          </a:xfrm>
          <a:prstGeom prst="roundRect">
            <a:avLst>
              <a:gd name="adj" fmla="val 492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0949" y="2750046"/>
            <a:ext cx="3511599" cy="2319932"/>
          </a:xfrm>
          <a:prstGeom prst="roundRect">
            <a:avLst>
              <a:gd name="adj" fmla="val 4926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3054846"/>
            <a:ext cx="419100" cy="4191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6974" y="3064371"/>
            <a:ext cx="419100" cy="4191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7174" y="3064371"/>
            <a:ext cx="419100" cy="4191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787" y="3169146"/>
            <a:ext cx="238125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7462" y="3178671"/>
            <a:ext cx="238125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1474" y="3178671"/>
            <a:ext cx="190500" cy="190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9F1239"/>
                </a:solidFill>
                <a:latin typeface="Plus Jakarta Sans"/>
              </a:rPr>
              <a:t>CONTEXT &amp; MOTIVATION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704850"/>
            <a:ext cx="11582400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Space Grotesk"/>
              </a:rPr>
              <a:t>Objective Enological Quality Assessment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300" y="3683496"/>
            <a:ext cx="3883883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881337"/>
                </a:solidFill>
                <a:latin typeface="Space Grotesk"/>
              </a:rPr>
              <a:t>Chemical Nexus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6300" y="4045446"/>
            <a:ext cx="3054399" cy="719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334155"/>
                </a:solidFill>
                <a:latin typeface="Plus Jakarta Sans"/>
              </a:rPr>
              <a:t>11 interdependent physicochemical metrics dictate wine taste and longevity.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6974" y="3673971"/>
            <a:ext cx="3883883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Space Grotesk"/>
              </a:rPr>
              <a:t>Human Sensory Limits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6974" y="4035921"/>
            <a:ext cx="3054399" cy="719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334155"/>
                </a:solidFill>
                <a:latin typeface="Plus Jakarta Sans"/>
              </a:rPr>
              <a:t>Sommelier panels introduce subjectivity, high costs, and physical fatigue.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7174" y="3673971"/>
            <a:ext cx="384482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66534"/>
                </a:solidFill>
                <a:latin typeface="Space Grotesk"/>
              </a:rPr>
              <a:t>Machine Learning Path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7174" y="4035921"/>
            <a:ext cx="3054399" cy="719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334155"/>
                </a:solidFill>
                <a:latin typeface="Plus Jakarta Sans"/>
              </a:rPr>
              <a:t>Automated, instantaneous mapping from chemical laboratory data to quality.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44403"/>
            <a:ext cx="5686425" cy="2093118"/>
          </a:xfrm>
          <a:prstGeom prst="roundRect">
            <a:avLst>
              <a:gd name="adj" fmla="val 5460"/>
            </a:avLst>
          </a:prstGeom>
          <a:solidFill>
            <a:srgbClr val="FF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2844403"/>
            <a:ext cx="57150" cy="2093118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62725" y="2528887"/>
            <a:ext cx="5019675" cy="819150"/>
          </a:xfrm>
          <a:prstGeom prst="roundRect">
            <a:avLst>
              <a:gd name="adj" fmla="val 1162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62725" y="3481387"/>
            <a:ext cx="5019675" cy="819150"/>
          </a:xfrm>
          <a:prstGeom prst="roundRect">
            <a:avLst>
              <a:gd name="adj" fmla="val 1162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62725" y="4433887"/>
            <a:ext cx="5019675" cy="819150"/>
          </a:xfrm>
          <a:prstGeom prst="roundRect">
            <a:avLst>
              <a:gd name="adj" fmla="val 1162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9F1239"/>
                </a:solidFill>
                <a:latin typeface="Plus Jakarta Sans"/>
              </a:rPr>
              <a:t>PROJECT FORMULATION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04850"/>
            <a:ext cx="11582400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Space Grotesk"/>
              </a:rPr>
              <a:t>Problem Statement &amp; Research Goals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1550" y="3149203"/>
            <a:ext cx="627459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BE123C"/>
                </a:solidFill>
                <a:latin typeface="Plus Jakarta Sans"/>
              </a:rPr>
              <a:t>CORE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1550" y="3434953"/>
            <a:ext cx="5114925" cy="5655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27"/>
              </a:lnSpc>
            </a:pPr>
            <a:r>
              <a:rPr b="1" sz="1650" i="0" u="none">
                <a:solidFill>
                  <a:srgbClr val="1E293B"/>
                </a:solidFill>
                <a:latin typeface="Plus Jakarta Sans"/>
              </a:rPr>
              <a:t>Binary classification under severe real-world class imbalance (86.5% standard vs 13.5% premium).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1550" y="4152900"/>
            <a:ext cx="5114925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Raw accuracy is misleading when minority reserve vintages are difficult to detect.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00850" y="2709862"/>
            <a:ext cx="53911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1. Leakage-Free Data Cleansing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00850" y="2967037"/>
            <a:ext cx="53911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Isolate 240 duplicate rows prior to cross-validation splits.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00850" y="3662362"/>
            <a:ext cx="53911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2. 3-Algorithm Comparative Benchmark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00850" y="3919537"/>
            <a:ext cx="53911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Evaluate Decision Tree, Random Forest, and Gradient Boosting.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00850" y="4614862"/>
            <a:ext cx="53911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3. Multi-Metric Rigor &amp; Explainability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0850" y="4872037"/>
            <a:ext cx="53911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Measure Precision, Recall, F1, PR-AUC, and feature rankings.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609600" y="2390775"/>
          <a:ext cx="10972798" cy="2962275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760339"/>
                <a:gridCol w="2397918"/>
                <a:gridCol w="3597622"/>
                <a:gridCol w="3216919"/>
              </a:tblGrid>
              <a:tr h="592455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Study / Author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813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Models Evaluated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813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Observed Research Gap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813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Our Proposed Solution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81337"/>
                    </a:solidFill>
                  </a:tcPr>
                </a:tc>
              </a:tr>
              <a:tr h="592455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Cortez et al. (2009)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SVM, Neural Nets, Regression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B91C1C"/>
                          </a:solidFill>
                          <a:latin typeface="Plus Jakarta Sans"/>
                        </a:rPr>
                        <a:t>Lacked modern gradient-boosted trees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15803D"/>
                          </a:solidFill>
                          <a:latin typeface="Plus Jakarta Sans"/>
                        </a:rPr>
                        <a:t>Benchmark 3 core tree architectures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92455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Jain et al. (2023)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DT, RF, AdaBoost, XGBoost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B91C1C"/>
                          </a:solidFill>
                          <a:latin typeface="Plus Jakarta Sans"/>
                        </a:rPr>
                        <a:t>No disciplined CV hyperparameter tuning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15803D"/>
                          </a:solidFill>
                          <a:latin typeface="Plus Jakarta Sans"/>
                        </a:rPr>
                        <a:t>3-Fold Stratified RandomizedSearchCV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592455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Dahal et al. (2021)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Linear Regression, RF, GB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B91C1C"/>
                          </a:solidFill>
                          <a:latin typeface="Plus Jakarta Sans"/>
                        </a:rPr>
                        <a:t>Continuous regression obscures binary quality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15803D"/>
                          </a:solidFill>
                          <a:latin typeface="Plus Jakarta Sans"/>
                        </a:rPr>
                        <a:t>6.5 binary industrial quality cut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92455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Ye (2023)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Single Decision Tree vs RF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B91C1C"/>
                          </a:solidFill>
                          <a:latin typeface="Plus Jakarta Sans"/>
                        </a:rPr>
                        <a:t>Evaluated accuracy only (minority dropped)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15803D"/>
                          </a:solidFill>
                          <a:latin typeface="Plus Jakarta Sans"/>
                        </a:rPr>
                        <a:t>Recall, F1-Score, and PR-AUC matrix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9F1239"/>
                </a:solidFill>
                <a:latin typeface="Plus Jakarta Sans"/>
              </a:rPr>
              <a:t>PRIOR ART &amp;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04850"/>
            <a:ext cx="11582400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Space Grotesk"/>
              </a:rPr>
              <a:t>Literature Survey &amp; Identified Gaps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662237"/>
            <a:ext cx="5334000" cy="1143000"/>
          </a:xfrm>
          <a:prstGeom prst="roundRect">
            <a:avLst>
              <a:gd name="adj" fmla="val 8333"/>
            </a:avLst>
          </a:prstGeom>
          <a:solidFill>
            <a:srgbClr val="FD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957637"/>
            <a:ext cx="5334000" cy="1162050"/>
          </a:xfrm>
          <a:prstGeom prst="roundRect">
            <a:avLst>
              <a:gd name="adj" fmla="val 819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48400" y="2652712"/>
            <a:ext cx="5334000" cy="1162050"/>
          </a:xfrm>
          <a:prstGeom prst="roundRect">
            <a:avLst>
              <a:gd name="adj" fmla="val 8196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48400" y="3967162"/>
            <a:ext cx="5334000" cy="1162050"/>
          </a:xfrm>
          <a:prstGeom prst="roundRect">
            <a:avLst>
              <a:gd name="adj" fmla="val 8196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662237"/>
            <a:ext cx="38100" cy="1143000"/>
          </a:xfrm>
          <a:prstGeom prst="rect">
            <a:avLst/>
          </a:prstGeom>
          <a:solidFill>
            <a:srgbClr val="9F1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9F1239"/>
                </a:solidFill>
                <a:latin typeface="Plus Jakarta Sans"/>
              </a:rPr>
              <a:t>DATA 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04850"/>
            <a:ext cx="11582400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Space Grotesk"/>
              </a:rPr>
              <a:t>Dataset Architecture &amp; Preprocessing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2852737"/>
            <a:ext cx="60483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9F1239"/>
                </a:solidFill>
                <a:latin typeface="Plus Jakarta Sans"/>
              </a:rPr>
              <a:t>INPUT MATRIX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3062287"/>
            <a:ext cx="6048375" cy="3143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0F172A"/>
                </a:solidFill>
                <a:latin typeface="Plus Jakarta Sans"/>
              </a:rPr>
              <a:t>11 Physicochemical Attributes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3414712"/>
            <a:ext cx="60483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Acidity metrics, sugar, chlorides, SO2, density, pH, alcohol.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4157662"/>
            <a:ext cx="607218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75569"/>
                </a:solidFill>
                <a:latin typeface="Plus Jakarta Sans"/>
              </a:rPr>
              <a:t>RAW ROW VOLUME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4367212"/>
            <a:ext cx="6072187" cy="3143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0F172A"/>
                </a:solidFill>
                <a:latin typeface="Plus Jakarta Sans"/>
              </a:rPr>
              <a:t>1,599 Instances (0 Nulls)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" y="4719637"/>
            <a:ext cx="60721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Zero missing fields across all collected records.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6525" y="2852737"/>
            <a:ext cx="57054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B91C1C"/>
                </a:solidFill>
                <a:latin typeface="Plus Jakarta Sans"/>
              </a:rPr>
              <a:t>DEDUPLICATION AUDIT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6525" y="3062287"/>
            <a:ext cx="5705475" cy="3143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991B1B"/>
                </a:solidFill>
                <a:latin typeface="Plus Jakarta Sans"/>
              </a:rPr>
              <a:t>- 240 Duplicates Removed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6525" y="3414712"/>
            <a:ext cx="57054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7F1D1D"/>
                </a:solidFill>
                <a:latin typeface="Plus Jakarta Sans"/>
              </a:rPr>
              <a:t>15.0% duplicate rows removed to prevent cross-split leakage.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6525" y="4167187"/>
            <a:ext cx="57054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66534"/>
                </a:solidFill>
                <a:latin typeface="Plus Jakarta Sans"/>
              </a:rPr>
              <a:t>SANITIZED TARGET DISTRIBUTION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6525" y="4376737"/>
            <a:ext cx="5705475" cy="3143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14532D"/>
                </a:solidFill>
                <a:latin typeface="Plus Jakarta Sans"/>
              </a:rPr>
              <a:t>1,359 Unique Samples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86525" y="4729162"/>
            <a:ext cx="57054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166534"/>
                </a:solidFill>
                <a:latin typeface="Plus Jakarta Sans"/>
              </a:rPr>
              <a:t>1,175 Standard (86.5%) vs 184 Premium (13.5%).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452687"/>
            <a:ext cx="5334000" cy="2838450"/>
          </a:xfrm>
          <a:prstGeom prst="roundRect">
            <a:avLst>
              <a:gd name="adj" fmla="val 402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695575"/>
            <a:ext cx="5334000" cy="2352675"/>
          </a:xfrm>
          <a:prstGeom prst="roundRect">
            <a:avLst>
              <a:gd name="adj" fmla="val 485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62025" y="4252912"/>
            <a:ext cx="304800" cy="114300"/>
          </a:xfrm>
          <a:prstGeom prst="roundRect">
            <a:avLst>
              <a:gd name="adj" fmla="val 33333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826865" y="4119562"/>
            <a:ext cx="304800" cy="247650"/>
          </a:xfrm>
          <a:prstGeom prst="roundRect">
            <a:avLst>
              <a:gd name="adj" fmla="val 15384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691705" y="3128962"/>
            <a:ext cx="304800" cy="1238250"/>
          </a:xfrm>
          <a:prstGeom prst="roundRect">
            <a:avLst>
              <a:gd name="adj" fmla="val 12500"/>
            </a:avLst>
          </a:prstGeom>
          <a:solidFill>
            <a:srgbClr val="8813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556545" y="3224212"/>
            <a:ext cx="304800" cy="1143000"/>
          </a:xfrm>
          <a:prstGeom prst="roundRect">
            <a:avLst>
              <a:gd name="adj" fmla="val 12500"/>
            </a:avLst>
          </a:prstGeom>
          <a:solidFill>
            <a:srgbClr val="9F1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421385" y="3890962"/>
            <a:ext cx="304800" cy="457200"/>
          </a:xfrm>
          <a:prstGeom prst="roundRect">
            <a:avLst>
              <a:gd name="adj" fmla="val 125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286226" y="4176712"/>
            <a:ext cx="304800" cy="171450"/>
          </a:xfrm>
          <a:prstGeom prst="roundRect">
            <a:avLst>
              <a:gd name="adj" fmla="val 22222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86525" y="3505200"/>
            <a:ext cx="4857750" cy="762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86525" y="3914775"/>
            <a:ext cx="4857750" cy="762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86525" y="4324350"/>
            <a:ext cx="4857750" cy="762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86525" y="4733925"/>
            <a:ext cx="4857750" cy="762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86525" y="3505200"/>
            <a:ext cx="3594645" cy="762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86525" y="3914775"/>
            <a:ext cx="2428875" cy="762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86525" y="4324350"/>
            <a:ext cx="1845915" cy="762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86525" y="4733925"/>
            <a:ext cx="3157537" cy="762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9F1239"/>
                </a:solidFill>
                <a:latin typeface="Plus Jakarta Sans"/>
              </a:rPr>
              <a:t>STATISTICAL EXPLORATION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704850"/>
            <a:ext cx="11582400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Space Grotesk"/>
              </a:rPr>
              <a:t>EDA: Distributions &amp; Pearson Correlations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7725" y="2690812"/>
            <a:ext cx="60721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Quality Score Frequency (3 to 8)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7725" y="4872037"/>
            <a:ext cx="607218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Plus Jakarta Sans"/>
              </a:rPr>
              <a:t>Scores 5 &amp; 6 constitute 82% of all samples.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6525" y="2933700"/>
            <a:ext cx="57054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Linear Feature Correlation with Quality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987" y="4024312"/>
            <a:ext cx="4286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6800" y="4424362"/>
            <a:ext cx="381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475569"/>
                </a:solidFill>
                <a:latin typeface="Plus Jakarta Sans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93540" y="3890962"/>
            <a:ext cx="457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53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31640" y="4424362"/>
            <a:ext cx="381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475569"/>
                </a:solidFill>
                <a:latin typeface="Plus Jakarta San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25042" y="2900362"/>
            <a:ext cx="5238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9F1239"/>
                </a:solidFill>
                <a:latin typeface="Plus Jakarta Sans"/>
              </a:rPr>
              <a:t>577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96480" y="4424362"/>
            <a:ext cx="381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881337"/>
                </a:solidFill>
                <a:latin typeface="Plus Jakarta Sans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80358" y="2995612"/>
            <a:ext cx="5429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9F1239"/>
                </a:solidFill>
                <a:latin typeface="Plus Jakarta Sans"/>
              </a:rPr>
              <a:t>535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61320" y="4424362"/>
            <a:ext cx="381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9F1239"/>
                </a:solidFill>
                <a:latin typeface="Plus Jakarta Sans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69010" y="3662362"/>
            <a:ext cx="4953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167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54723" y="4405312"/>
            <a:ext cx="5238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284C7"/>
                </a:solidFill>
                <a:latin typeface="Plus Jakarta Sans"/>
              </a:rPr>
              <a:t>7★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71951" y="3948112"/>
            <a:ext cx="4191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17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14801" y="4405312"/>
            <a:ext cx="5334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284C7"/>
                </a:solidFill>
                <a:latin typeface="Plus Jakarta Sans"/>
              </a:rPr>
              <a:t>8★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86525" y="3286125"/>
            <a:ext cx="142875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66534"/>
                </a:solidFill>
                <a:latin typeface="Plus Jakarta Sans"/>
              </a:rPr>
              <a:t>Alcohol Content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06125" y="3286125"/>
            <a:ext cx="7239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66534"/>
                </a:solidFill>
                <a:latin typeface="Plus Jakarta Sans"/>
              </a:rPr>
              <a:t>+0.48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86525" y="3695700"/>
            <a:ext cx="9906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66534"/>
                </a:solidFill>
                <a:latin typeface="Plus Jakarta Sans"/>
              </a:rPr>
              <a:t>Sulphates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15650" y="3695700"/>
            <a:ext cx="7143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66534"/>
                </a:solidFill>
                <a:latin typeface="Plus Jakarta Sans"/>
              </a:rPr>
              <a:t>+0.25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86525" y="4105275"/>
            <a:ext cx="96202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991B1B"/>
                </a:solidFill>
                <a:latin typeface="Plus Jakarta Sans"/>
              </a:rPr>
              <a:t>Total SO2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63275" y="4105275"/>
            <a:ext cx="66675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991B1B"/>
                </a:solidFill>
                <a:latin typeface="Plus Jakarta Sans"/>
              </a:rPr>
              <a:t>-0.19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86525" y="4514850"/>
            <a:ext cx="13335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991B1B"/>
                </a:solidFill>
                <a:latin typeface="Plus Jakarta Sans"/>
              </a:rPr>
              <a:t>Volatile Acidity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25175" y="4514850"/>
            <a:ext cx="70485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991B1B"/>
                </a:solidFill>
                <a:latin typeface="Plus Jakarta Sans"/>
              </a:rPr>
              <a:t>-0.39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33712"/>
            <a:ext cx="2600325" cy="1752600"/>
          </a:xfrm>
          <a:prstGeom prst="roundRect">
            <a:avLst>
              <a:gd name="adj" fmla="val 652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00425" y="3033712"/>
            <a:ext cx="2600325" cy="1752600"/>
          </a:xfrm>
          <a:prstGeom prst="roundRect">
            <a:avLst>
              <a:gd name="adj" fmla="val 652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91250" y="3033712"/>
            <a:ext cx="2600325" cy="1752600"/>
          </a:xfrm>
          <a:prstGeom prst="roundRect">
            <a:avLst>
              <a:gd name="adj" fmla="val 652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82075" y="3033712"/>
            <a:ext cx="2600325" cy="1752600"/>
          </a:xfrm>
          <a:prstGeom prst="roundRect">
            <a:avLst>
              <a:gd name="adj" fmla="val 652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3033712"/>
            <a:ext cx="2600325" cy="47625"/>
          </a:xfrm>
          <a:prstGeom prst="rect">
            <a:avLst/>
          </a:prstGeom>
          <a:solidFill>
            <a:srgbClr val="9F1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00425" y="3033712"/>
            <a:ext cx="2600325" cy="47625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91250" y="3033712"/>
            <a:ext cx="2600325" cy="476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982075" y="3033712"/>
            <a:ext cx="2600325" cy="47625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9F1239"/>
                </a:solidFill>
                <a:latin typeface="Plus Jakarta Sans"/>
              </a:rPr>
              <a:t>EXECUTION 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04850"/>
            <a:ext cx="11582400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Space Grotesk"/>
              </a:rPr>
              <a:t>4-Stage Preprocessing Protocol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3348037"/>
            <a:ext cx="267890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9F1239"/>
                </a:solidFill>
                <a:latin typeface="Plus Jakarta Sans"/>
              </a:rPr>
              <a:t>STAGE 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3595687"/>
            <a:ext cx="2812851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Deduplication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3919537"/>
            <a:ext cx="223837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240 duplicates purged to protect holdout test integrity.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29025" y="3348037"/>
            <a:ext cx="267890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11D48"/>
                </a:solidFill>
                <a:latin typeface="Plus Jakarta Sans"/>
              </a:rPr>
              <a:t>STAGE 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9025" y="3595687"/>
            <a:ext cx="2812851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Binarization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29025" y="3919537"/>
            <a:ext cx="2238375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Cutoff at score 6.5 segregating reserve quality wines.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850" y="3348037"/>
            <a:ext cx="267890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STAGE 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850" y="3595687"/>
            <a:ext cx="2812851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Stratified Split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850" y="3919537"/>
            <a:ext cx="2238375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80% train (1,087) and 20% test (272) keeping class balance.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10675" y="3348037"/>
            <a:ext cx="267890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6A34A"/>
                </a:solidFill>
                <a:latin typeface="Plus Jakarta Sans"/>
              </a:rPr>
              <a:t>STAGE 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10675" y="3595687"/>
            <a:ext cx="2812851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Standard Scaling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10675" y="3919537"/>
            <a:ext cx="223837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Zero mean and unit variance for model convergence.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4076700"/>
            <a:ext cx="10972800" cy="866775"/>
          </a:xfrm>
          <a:prstGeom prst="roundRect">
            <a:avLst>
              <a:gd name="adj" fmla="val 1098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838450"/>
            <a:ext cx="2072580" cy="1009650"/>
          </a:xfrm>
          <a:prstGeom prst="roundRect">
            <a:avLst>
              <a:gd name="adj" fmla="val 9433"/>
            </a:avLst>
          </a:prstGeom>
          <a:solidFill>
            <a:srgbClr val="FDF2F4"/>
          </a:solidFill>
          <a:ln w="9525">
            <a:solidFill>
              <a:srgbClr val="FE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834580" y="2838450"/>
            <a:ext cx="2072580" cy="1009650"/>
          </a:xfrm>
          <a:prstGeom prst="roundRect">
            <a:avLst>
              <a:gd name="adj" fmla="val 9433"/>
            </a:avLst>
          </a:prstGeom>
          <a:solidFill>
            <a:srgbClr val="FDF2F4"/>
          </a:solidFill>
          <a:ln w="9525">
            <a:solidFill>
              <a:srgbClr val="FE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59560" y="2838450"/>
            <a:ext cx="2072580" cy="1009650"/>
          </a:xfrm>
          <a:prstGeom prst="roundRect">
            <a:avLst>
              <a:gd name="adj" fmla="val 9433"/>
            </a:avLst>
          </a:prstGeom>
          <a:solidFill>
            <a:srgbClr val="FDF2F4"/>
          </a:solidFill>
          <a:ln w="9525">
            <a:solidFill>
              <a:srgbClr val="FE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284541" y="2838450"/>
            <a:ext cx="2072580" cy="1009650"/>
          </a:xfrm>
          <a:prstGeom prst="roundRect">
            <a:avLst>
              <a:gd name="adj" fmla="val 9433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509521" y="2838450"/>
            <a:ext cx="2072580" cy="1009650"/>
          </a:xfrm>
          <a:prstGeom prst="roundRect">
            <a:avLst>
              <a:gd name="adj" fmla="val 9433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9F1239"/>
                </a:solidFill>
                <a:latin typeface="Plus Jakarta Sans"/>
              </a:rPr>
              <a:t>SYSTEM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04850"/>
            <a:ext cx="11582400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Space Grotesk"/>
              </a:rPr>
              <a:t>Methodology: Cross-Validation &amp; Consensus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825" y="4276725"/>
            <a:ext cx="113061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Ensemble Consensus Formula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825" y="4552950"/>
            <a:ext cx="113061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334155"/>
                </a:solidFill>
                <a:latin typeface="monospace"/>
              </a:rPr>
              <a:t>P_consensus = 0.327 · P_DT + 0.350 · P_RF + 0.323 · P_GB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9121" y="3038475"/>
            <a:ext cx="2233538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9F1239"/>
                </a:solidFill>
                <a:latin typeface="Plus Jakarta Sans"/>
              </a:rPr>
              <a:t>STEP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9121" y="3228975"/>
            <a:ext cx="2233538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75" i="0" u="none">
                <a:solidFill>
                  <a:srgbClr val="0F172A"/>
                </a:solidFill>
                <a:latin typeface="Plus Jakarta Sans"/>
              </a:rPr>
              <a:t>1,359 Samples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9121" y="3476625"/>
            <a:ext cx="2233538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Plus Jakarta Sans"/>
              </a:rPr>
              <a:t>Sanitized ingestion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54101" y="3038475"/>
            <a:ext cx="2233538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9F1239"/>
                </a:solidFill>
                <a:latin typeface="Plus Jakarta Sans"/>
              </a:rPr>
              <a:t>STEP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54101" y="3228975"/>
            <a:ext cx="2233538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75" i="0" u="none">
                <a:solidFill>
                  <a:srgbClr val="0F172A"/>
                </a:solidFill>
                <a:latin typeface="Plus Jakarta Sans"/>
              </a:rPr>
              <a:t>3-Fold Stratified CV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54101" y="3476625"/>
            <a:ext cx="2233538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Plus Jakarta Sans"/>
              </a:rPr>
              <a:t>F1 optimization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79082" y="3038475"/>
            <a:ext cx="2233538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9F1239"/>
                </a:solidFill>
                <a:latin typeface="Plus Jakarta Sans"/>
              </a:rPr>
              <a:t>STEP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79082" y="3228975"/>
            <a:ext cx="2233538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75" i="0" u="none">
                <a:solidFill>
                  <a:srgbClr val="0F172A"/>
                </a:solidFill>
                <a:latin typeface="Plus Jakarta Sans"/>
              </a:rPr>
              <a:t>3 Model Families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79082" y="3476625"/>
            <a:ext cx="2233538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Plus Jakarta Sans"/>
              </a:rPr>
              <a:t>DT, RF &amp; Boosting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04062" y="3038475"/>
            <a:ext cx="2233538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166534"/>
                </a:solidFill>
                <a:latin typeface="Plus Jakarta Sans"/>
              </a:rPr>
              <a:t>STEP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04062" y="3228975"/>
            <a:ext cx="2233538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75" i="0" u="none">
                <a:solidFill>
                  <a:srgbClr val="0F172A"/>
                </a:solidFill>
                <a:latin typeface="Plus Jakarta Sans"/>
              </a:rPr>
              <a:t>OOF Consensus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04062" y="3476625"/>
            <a:ext cx="2233538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Plus Jakarta Sans"/>
              </a:rPr>
              <a:t>F1 weighted probabilities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29043" y="3038475"/>
            <a:ext cx="2233538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166534"/>
                </a:solidFill>
                <a:latin typeface="Plus Jakarta Sans"/>
              </a:rPr>
              <a:t>STEP 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29043" y="3228975"/>
            <a:ext cx="2233538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75" i="0" u="none">
                <a:solidFill>
                  <a:srgbClr val="0F172A"/>
                </a:solidFill>
                <a:latin typeface="Plus Jakarta Sans"/>
              </a:rPr>
              <a:t>Streamlit Portal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29043" y="3476625"/>
            <a:ext cx="2233538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Plus Jakarta Sans"/>
              </a:rPr>
              <a:t>Real-time testing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728912"/>
            <a:ext cx="3505200" cy="2362200"/>
          </a:xfrm>
          <a:prstGeom prst="roundRect">
            <a:avLst>
              <a:gd name="adj" fmla="val 483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728912"/>
            <a:ext cx="3505200" cy="2362200"/>
          </a:xfrm>
          <a:prstGeom prst="roundRect">
            <a:avLst>
              <a:gd name="adj" fmla="val 483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728912"/>
            <a:ext cx="3505200" cy="2362200"/>
          </a:xfrm>
          <a:prstGeom prst="roundRect">
            <a:avLst>
              <a:gd name="adj" fmla="val 483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85825" y="3938587"/>
            <a:ext cx="2952750" cy="876300"/>
          </a:xfrm>
          <a:prstGeom prst="roundRect">
            <a:avLst>
              <a:gd name="adj" fmla="val 869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619625" y="3938587"/>
            <a:ext cx="2952750" cy="876300"/>
          </a:xfrm>
          <a:prstGeom prst="roundRect">
            <a:avLst>
              <a:gd name="adj" fmla="val 869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353425" y="3938587"/>
            <a:ext cx="2952750" cy="876300"/>
          </a:xfrm>
          <a:prstGeom prst="roundRect">
            <a:avLst>
              <a:gd name="adj" fmla="val 869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9F1239"/>
                </a:solidFill>
                <a:latin typeface="Plus Jakarta Sans"/>
              </a:rPr>
              <a:t>MODEL 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04850"/>
            <a:ext cx="11582400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Space Grotesk"/>
              </a:rPr>
              <a:t>Algorithm Mechanics &amp; Tuned Configurations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825" y="3005137"/>
            <a:ext cx="3875484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9F1239"/>
                </a:solidFill>
                <a:latin typeface="Space Grotesk"/>
              </a:rPr>
              <a:t>Decision Tree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825" y="3386137"/>
            <a:ext cx="304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Shallow recursive splits with balanced sample weighting.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9625" y="3005137"/>
            <a:ext cx="3875484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284C7"/>
                </a:solidFill>
                <a:latin typeface="Space Grotesk"/>
              </a:rPr>
              <a:t>Random Forest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9625" y="3386137"/>
            <a:ext cx="304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Parallel bagging across 200 de-correlated trees.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53425" y="3005137"/>
            <a:ext cx="383857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6A34A"/>
                </a:solidFill>
                <a:latin typeface="Space Grotesk"/>
              </a:rPr>
              <a:t>Gradient Boosting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3425" y="3386137"/>
            <a:ext cx="304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Stagewise additive learning fitting pseudo-residuals.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8700" y="4081462"/>
            <a:ext cx="33337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monospace"/>
              </a:rPr>
              <a:t>criterion: 'entropy'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8700" y="4291012"/>
            <a:ext cx="33337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monospace"/>
              </a:rPr>
              <a:t>max_depth: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" y="4500562"/>
            <a:ext cx="33337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monospace"/>
              </a:rPr>
              <a:t>class_weight: 'balanced'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62500" y="4081462"/>
            <a:ext cx="33337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monospace"/>
              </a:rPr>
              <a:t>n_estimators: 200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62500" y="4291012"/>
            <a:ext cx="33337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monospace"/>
              </a:rPr>
              <a:t>max_depth: 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62500" y="4500562"/>
            <a:ext cx="33337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monospace"/>
              </a:rPr>
              <a:t>max_features: 0.70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96300" y="4081462"/>
            <a:ext cx="33337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monospace"/>
              </a:rPr>
              <a:t>learning_rate: 0.03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96300" y="4291012"/>
            <a:ext cx="33337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monospace"/>
              </a:rPr>
              <a:t>max_depth: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96300" y="4500562"/>
            <a:ext cx="33337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monospace"/>
              </a:rPr>
              <a:t>subsample: 0.70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609600" y="2686050"/>
          <a:ext cx="10972796" cy="2371725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647354"/>
                <a:gridCol w="1588442"/>
                <a:gridCol w="1408211"/>
                <a:gridCol w="1329332"/>
                <a:gridCol w="1498252"/>
                <a:gridCol w="1081385"/>
                <a:gridCol w="1419820"/>
              </a:tblGrid>
              <a:tr h="474345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Model Architecture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813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Accuracy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813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Precision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813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Recall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813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F1-Score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813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Bal. Acc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813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ROC-AUC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81337"/>
                    </a:solidFill>
                  </a:tcPr>
                </a:tc>
              </a:tr>
              <a:tr h="474345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Decision Tree (Tuned)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77.57%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0.357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16A34A"/>
                          </a:solidFill>
                          <a:latin typeface="Plus Jakarta Sans"/>
                        </a:rPr>
                        <a:t>0.811 (Max)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0.496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0.791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0.833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74345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Random Forest (Tuned)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86.76%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0.515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0.459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0.486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0.696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0.876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74345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Gradient Boosting (Tuned)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16A34A"/>
                          </a:solidFill>
                          <a:latin typeface="Plus Jakarta Sans"/>
                        </a:rPr>
                        <a:t>88.97% (Max)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16A34A"/>
                          </a:solidFill>
                          <a:latin typeface="Plus Jakarta Sans"/>
                        </a:rPr>
                        <a:t>0.667 (Max)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0.378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0.483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0.674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16A34A"/>
                          </a:solidFill>
                          <a:latin typeface="Plus Jakarta Sans"/>
                        </a:rPr>
                        <a:t>0.893 (Max)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74345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881337"/>
                          </a:solidFill>
                          <a:latin typeface="Plus Jakarta Sans"/>
                        </a:rPr>
                        <a:t>Weighted Consensus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86.40%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0.500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0.568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881337"/>
                          </a:solidFill>
                          <a:latin typeface="Plus Jakarta Sans"/>
                        </a:rPr>
                        <a:t>0.532 (Best)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0.739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0.867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2F4"/>
                    </a:solidFill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9F1239"/>
                </a:solidFill>
                <a:latin typeface="Plus Jakarta Sans"/>
              </a:rPr>
              <a:t>BENCHMARKING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04850"/>
            <a:ext cx="11582400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Space Grotesk"/>
              </a:rPr>
              <a:t>Experimental Results on 20% Holdout Test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609850"/>
            <a:ext cx="5572125" cy="2524125"/>
          </a:xfrm>
          <a:prstGeom prst="roundRect">
            <a:avLst>
              <a:gd name="adj" fmla="val 452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86525" y="2324100"/>
            <a:ext cx="5095875" cy="942975"/>
          </a:xfrm>
          <a:prstGeom prst="roundRect">
            <a:avLst>
              <a:gd name="adj" fmla="val 10101"/>
            </a:avLst>
          </a:prstGeom>
          <a:solidFill>
            <a:srgbClr val="FD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86525" y="3400425"/>
            <a:ext cx="5095875" cy="942975"/>
          </a:xfrm>
          <a:prstGeom prst="roundRect">
            <a:avLst>
              <a:gd name="adj" fmla="val 10101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86525" y="4476750"/>
            <a:ext cx="5095875" cy="942975"/>
          </a:xfrm>
          <a:prstGeom prst="roundRect">
            <a:avLst>
              <a:gd name="adj" fmla="val 1010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86525" y="2324100"/>
            <a:ext cx="38100" cy="942975"/>
          </a:xfrm>
          <a:prstGeom prst="rect">
            <a:avLst/>
          </a:prstGeom>
          <a:solidFill>
            <a:srgbClr val="8813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86525" y="3400425"/>
            <a:ext cx="38100" cy="942975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86525" y="4476750"/>
            <a:ext cx="38100" cy="9429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7725" y="3438525"/>
            <a:ext cx="5095875" cy="9525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47725" y="3886200"/>
            <a:ext cx="5095875" cy="9525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47725" y="4333875"/>
            <a:ext cx="5095875" cy="9525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47725" y="4781550"/>
            <a:ext cx="5095875" cy="1143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9525">
            <a:solidFill>
              <a:srgbClr val="8813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7725" y="3438525"/>
            <a:ext cx="3954363" cy="95250"/>
          </a:xfrm>
          <a:prstGeom prst="rect">
            <a:avLst/>
          </a:prstGeom>
          <a:solidFill>
            <a:srgbClr val="9F1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7725" y="3886200"/>
            <a:ext cx="4423171" cy="952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7725" y="4333875"/>
            <a:ext cx="4533751" cy="9525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57250" y="4791075"/>
            <a:ext cx="4386262" cy="95250"/>
          </a:xfrm>
          <a:prstGeom prst="rect">
            <a:avLst/>
          </a:prstGeom>
          <a:solidFill>
            <a:srgbClr val="8813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9F1239"/>
                </a:solidFill>
                <a:latin typeface="Plus Jakarta Sans"/>
              </a:rPr>
              <a:t>PERFORMANCE ANALYSIS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704850"/>
            <a:ext cx="11582400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Space Grotesk"/>
              </a:rPr>
              <a:t>Accuracy vs F1-Score &amp; Recall Dynamics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7725" y="2847975"/>
            <a:ext cx="636984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Accuracy vs F1-Score Comparison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53225" y="2495550"/>
            <a:ext cx="54387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881337"/>
                </a:solidFill>
                <a:latin typeface="Plus Jakarta Sans"/>
              </a:rPr>
              <a:t>The Accuracy Paradox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53225" y="2733675"/>
            <a:ext cx="469582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Gradient Boosting hits peak accuracy (88.97%) by favoring majority class predictions.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53225" y="3571875"/>
            <a:ext cx="54387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66534"/>
                </a:solidFill>
                <a:latin typeface="Plus Jakarta Sans"/>
              </a:rPr>
              <a:t>Peak Minority Recall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53225" y="3810000"/>
            <a:ext cx="469582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Tuned Decision Tree detects 81.1% of all rare premium reserve wines.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53225" y="4648200"/>
            <a:ext cx="54387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369A1"/>
                </a:solidFill>
                <a:latin typeface="Plus Jakarta Sans"/>
              </a:rPr>
              <a:t>Optimal Harmonic Mean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53225" y="4886325"/>
            <a:ext cx="469582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Weighted Consensus reaches best F1-Score (0.532) and PR-AUC (0.601).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7725" y="3219450"/>
            <a:ext cx="119062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1E293B"/>
                </a:solidFill>
                <a:latin typeface="Plus Jakarta Sans"/>
              </a:rPr>
              <a:t>Decision Tree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57203" y="3219450"/>
            <a:ext cx="235799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E293B"/>
                </a:solidFill>
                <a:latin typeface="monospace"/>
              </a:rPr>
              <a:t>Acc: 77.6% | F1: 0.496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7725" y="3667125"/>
            <a:ext cx="135255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1E293B"/>
                </a:solidFill>
                <a:latin typeface="Plus Jakarta Sans"/>
              </a:rPr>
              <a:t>Random Forest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57203" y="3667125"/>
            <a:ext cx="235799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E293B"/>
                </a:solidFill>
                <a:latin typeface="monospace"/>
              </a:rPr>
              <a:t>Acc: 86.8% | F1: 0.486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7725" y="4114800"/>
            <a:ext cx="157162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1E293B"/>
                </a:solidFill>
                <a:latin typeface="Plus Jakarta Sans"/>
              </a:rPr>
              <a:t>Gradient Boosting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57203" y="4114800"/>
            <a:ext cx="235799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E293B"/>
                </a:solidFill>
                <a:latin typeface="monospace"/>
              </a:rPr>
              <a:t>Acc: 89.0% | F1: 0.483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7725" y="4562475"/>
            <a:ext cx="1869281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881337"/>
                </a:solidFill>
                <a:latin typeface="Plus Jakarta Sans"/>
              </a:rPr>
              <a:t>Weighted Consensus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57203" y="4562475"/>
            <a:ext cx="235799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881337"/>
                </a:solidFill>
                <a:latin typeface="monospace"/>
              </a:rPr>
              <a:t>Acc: 86.4% | F1: 0.532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695575"/>
            <a:ext cx="5572125" cy="2352675"/>
          </a:xfrm>
          <a:prstGeom prst="roundRect">
            <a:avLst>
              <a:gd name="adj" fmla="val 485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86525" y="2295525"/>
            <a:ext cx="5095875" cy="962025"/>
          </a:xfrm>
          <a:prstGeom prst="roundRect">
            <a:avLst>
              <a:gd name="adj" fmla="val 9900"/>
            </a:avLst>
          </a:prstGeom>
          <a:solidFill>
            <a:srgbClr val="FDF2F4"/>
          </a:solidFill>
          <a:ln w="9525">
            <a:solidFill>
              <a:srgbClr val="FE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86525" y="3390900"/>
            <a:ext cx="5095875" cy="962025"/>
          </a:xfrm>
          <a:prstGeom prst="roundRect">
            <a:avLst>
              <a:gd name="adj" fmla="val 99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86525" y="4486275"/>
            <a:ext cx="5095875" cy="962025"/>
          </a:xfrm>
          <a:prstGeom prst="roundRect">
            <a:avLst>
              <a:gd name="adj" fmla="val 99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7725" y="3505200"/>
            <a:ext cx="5095875" cy="762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7725" y="3914775"/>
            <a:ext cx="5095875" cy="762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47725" y="4324350"/>
            <a:ext cx="5095875" cy="762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7725" y="4733925"/>
            <a:ext cx="5095875" cy="762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7725" y="3505200"/>
            <a:ext cx="3974752" cy="76200"/>
          </a:xfrm>
          <a:prstGeom prst="rect">
            <a:avLst/>
          </a:prstGeom>
          <a:solidFill>
            <a:srgbClr val="9F1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47725" y="3914775"/>
            <a:ext cx="2140148" cy="76200"/>
          </a:xfrm>
          <a:prstGeom prst="rect">
            <a:avLst/>
          </a:prstGeom>
          <a:solidFill>
            <a:srgbClr val="9F1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47725" y="4324350"/>
            <a:ext cx="1273968" cy="76200"/>
          </a:xfrm>
          <a:prstGeom prst="rect">
            <a:avLst/>
          </a:prstGeom>
          <a:solidFill>
            <a:srgbClr val="9F1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7725" y="4733925"/>
            <a:ext cx="1222920" cy="76200"/>
          </a:xfrm>
          <a:prstGeom prst="rect">
            <a:avLst/>
          </a:prstGeom>
          <a:solidFill>
            <a:srgbClr val="9F1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9F1239"/>
                </a:solidFill>
                <a:latin typeface="Plus Jakarta Sans"/>
              </a:rPr>
              <a:t>EXPLAINABLE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704850"/>
            <a:ext cx="11582400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Space Grotesk"/>
              </a:rPr>
              <a:t>Native Feature Importance &amp; Enological Impact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725" y="2933700"/>
            <a:ext cx="636984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Top Chemical Predictors (Mean Split Impurity)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4650" y="2476500"/>
            <a:ext cx="54673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881337"/>
                </a:solidFill>
                <a:latin typeface="Plus Jakarta Sans"/>
              </a:rPr>
              <a:t>Alcohol Contribution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4650" y="2714625"/>
            <a:ext cx="471487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Plus Jakarta Sans"/>
              </a:rPr>
              <a:t>Ethanol increases viscosity, perceived warmth, and balances tannin astringency.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4650" y="3571875"/>
            <a:ext cx="54673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Sulphates Stabilization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4650" y="3810000"/>
            <a:ext cx="471487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Plus Jakarta Sans"/>
              </a:rPr>
              <a:t>Potassium sulphate maintains freshness without pungent free SO2 odors.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4650" y="4667250"/>
            <a:ext cx="54673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Volatile Acidity Defect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4650" y="4905375"/>
            <a:ext cx="471487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Plus Jakarta Sans"/>
              </a:rPr>
              <a:t>Acetic acid above threshold creates a sharp vinegar fault that lowers grade.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7725" y="3286125"/>
            <a:ext cx="159543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E293B"/>
                </a:solidFill>
                <a:latin typeface="Plus Jakarta Sans"/>
              </a:rPr>
              <a:t>1. Alcohol Content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76875" y="3286125"/>
            <a:ext cx="7524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9F1239"/>
                </a:solidFill>
                <a:latin typeface="Plus Jakarta Sans"/>
              </a:rPr>
              <a:t>38.8%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7725" y="3695700"/>
            <a:ext cx="157162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E293B"/>
                </a:solidFill>
                <a:latin typeface="Plus Jakarta Sans"/>
              </a:rPr>
              <a:t>2. Sulphates Level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43550" y="3695700"/>
            <a:ext cx="6858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9F1239"/>
                </a:solidFill>
                <a:latin typeface="Plus Jakarta Sans"/>
              </a:rPr>
              <a:t>18.1%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7725" y="4105275"/>
            <a:ext cx="1512093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E293B"/>
                </a:solidFill>
                <a:latin typeface="Plus Jakarta Sans"/>
              </a:rPr>
              <a:t>3. Volatile Acidity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72125" y="4105275"/>
            <a:ext cx="65722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9F1239"/>
                </a:solidFill>
                <a:latin typeface="Plus Jakarta Sans"/>
              </a:rPr>
              <a:t>9.8%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725" y="4514850"/>
            <a:ext cx="1893093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E293B"/>
                </a:solidFill>
                <a:latin typeface="Plus Jakarta Sans"/>
              </a:rPr>
              <a:t>4. Total Sulfur Dioxide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72125" y="4514850"/>
            <a:ext cx="65722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9F1239"/>
                </a:solidFill>
                <a:latin typeface="Plus Jakarta Sans"/>
              </a:rPr>
              <a:t>9.5%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386012"/>
            <a:ext cx="5348287" cy="3048000"/>
          </a:xfrm>
          <a:prstGeom prst="roundRect">
            <a:avLst>
              <a:gd name="adj" fmla="val 3750"/>
            </a:avLst>
          </a:prstGeom>
          <a:solidFill>
            <a:srgbClr val="FD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24587" y="2376487"/>
            <a:ext cx="5357812" cy="3067050"/>
          </a:xfrm>
          <a:prstGeom prst="roundRect">
            <a:avLst>
              <a:gd name="adj" fmla="val 372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2386012"/>
            <a:ext cx="47625" cy="3048000"/>
          </a:xfrm>
          <a:prstGeom prst="rect">
            <a:avLst/>
          </a:prstGeom>
          <a:solidFill>
            <a:srgbClr val="8813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24587" y="5434012"/>
            <a:ext cx="535781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24587" y="2376487"/>
            <a:ext cx="535781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24587" y="2376487"/>
            <a:ext cx="47625" cy="30670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572875" y="2376487"/>
            <a:ext cx="9525" cy="3067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9F1239"/>
                </a:solidFill>
                <a:latin typeface="Plus Jakarta Sans"/>
              </a:rPr>
              <a:t>SYNTHESIS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704850"/>
            <a:ext cx="11582400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Space Grotesk"/>
              </a:rPr>
              <a:t>Project Conclusions &amp; Research Horizons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2690812"/>
            <a:ext cx="6257032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881337"/>
                </a:solidFill>
                <a:latin typeface="Space Grotesk"/>
              </a:rPr>
              <a:t>Core Findings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8912" y="2690812"/>
            <a:ext cx="5653087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284C7"/>
                </a:solidFill>
                <a:latin typeface="Space Grotesk"/>
              </a:rPr>
              <a:t>Future Research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925" y="3109912"/>
            <a:ext cx="4862512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334155"/>
                </a:solidFill>
                <a:latin typeface="Plus Jakarta Sans"/>
              </a:rPr>
              <a:t>• </a:t>
            </a:r>
            <a:r>
              <a:rPr b="1" sz="1275" i="0" u="none">
                <a:solidFill>
                  <a:srgbClr val="334155"/>
                </a:solidFill>
                <a:latin typeface="Plus Jakarta Sans"/>
              </a:rPr>
              <a:t>Feasibility:</a:t>
            </a:r>
            <a:r>
              <a:rPr b="0" sz="1275" i="0" u="none">
                <a:solidFill>
                  <a:srgbClr val="334155"/>
                </a:solidFill>
                <a:latin typeface="Plus Jakarta Sans"/>
              </a:rPr>
              <a:t> Physicochemical metrics effectively separate wine quality tiers.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925" y="3643312"/>
            <a:ext cx="4862512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334155"/>
                </a:solidFill>
                <a:latin typeface="Plus Jakarta Sans"/>
              </a:rPr>
              <a:t>• </a:t>
            </a:r>
            <a:r>
              <a:rPr b="1" sz="1275" i="0" u="none">
                <a:solidFill>
                  <a:srgbClr val="334155"/>
                </a:solidFill>
                <a:latin typeface="Plus Jakarta Sans"/>
              </a:rPr>
              <a:t>Gradient Boosting:</a:t>
            </a:r>
            <a:r>
              <a:rPr b="0" sz="1275" i="0" u="none">
                <a:solidFill>
                  <a:srgbClr val="334155"/>
                </a:solidFill>
                <a:latin typeface="Plus Jakarta Sans"/>
              </a:rPr>
              <a:t> Achieved top overall accuracy (88.97%) and ROC-AUC (0.893).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925" y="4176712"/>
            <a:ext cx="4862512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334155"/>
                </a:solidFill>
                <a:latin typeface="Plus Jakarta Sans"/>
              </a:rPr>
              <a:t>• </a:t>
            </a:r>
            <a:r>
              <a:rPr b="1" sz="1275" i="0" u="none">
                <a:solidFill>
                  <a:srgbClr val="334155"/>
                </a:solidFill>
                <a:latin typeface="Plus Jakarta Sans"/>
              </a:rPr>
              <a:t>Consensus Balance:</a:t>
            </a:r>
            <a:r>
              <a:rPr b="0" sz="1275" i="0" u="none">
                <a:solidFill>
                  <a:srgbClr val="334155"/>
                </a:solidFill>
                <a:latin typeface="Plus Jakarta Sans"/>
              </a:rPr>
              <a:t> Delivered superior F1-score (0.532) and PR-AUC (0.601).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925" y="4710112"/>
            <a:ext cx="4862512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334155"/>
                </a:solidFill>
                <a:latin typeface="Plus Jakarta Sans"/>
              </a:rPr>
              <a:t>• </a:t>
            </a:r>
            <a:r>
              <a:rPr b="1" sz="1275" i="0" u="none">
                <a:solidFill>
                  <a:srgbClr val="334155"/>
                </a:solidFill>
                <a:latin typeface="Plus Jakarta Sans"/>
              </a:rPr>
              <a:t>Top Predictors:</a:t>
            </a:r>
            <a:r>
              <a:rPr b="0" sz="1275" i="0" u="none">
                <a:solidFill>
                  <a:srgbClr val="334155"/>
                </a:solidFill>
                <a:latin typeface="Plus Jakarta Sans"/>
              </a:rPr>
              <a:t> Alcohol (38.8%) and Sulphates (18.1%) drove decisions.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8912" y="3109912"/>
            <a:ext cx="4862512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334155"/>
                </a:solidFill>
                <a:latin typeface="Plus Jakarta Sans"/>
              </a:rPr>
              <a:t>• </a:t>
            </a:r>
            <a:r>
              <a:rPr b="1" sz="1275" i="0" u="none">
                <a:solidFill>
                  <a:srgbClr val="334155"/>
                </a:solidFill>
                <a:latin typeface="Plus Jakarta Sans"/>
              </a:rPr>
              <a:t>Terroir Features:</a:t>
            </a:r>
            <a:r>
              <a:rPr b="0" sz="1275" i="0" u="none">
                <a:solidFill>
                  <a:srgbClr val="334155"/>
                </a:solidFill>
                <a:latin typeface="Plus Jakarta Sans"/>
              </a:rPr>
              <a:t> Integrate regional climate, soil pH, and vineyard elevation.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8912" y="3643312"/>
            <a:ext cx="4862512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334155"/>
                </a:solidFill>
                <a:latin typeface="Plus Jakarta Sans"/>
              </a:rPr>
              <a:t>• </a:t>
            </a:r>
            <a:r>
              <a:rPr b="1" sz="1275" i="0" u="none">
                <a:solidFill>
                  <a:srgbClr val="334155"/>
                </a:solidFill>
                <a:latin typeface="Plus Jakarta Sans"/>
              </a:rPr>
              <a:t>Multi-Class Prediction:</a:t>
            </a:r>
            <a:r>
              <a:rPr b="0" sz="1275" i="0" u="none">
                <a:solidFill>
                  <a:srgbClr val="334155"/>
                </a:solidFill>
                <a:latin typeface="Plus Jakarta Sans"/>
              </a:rPr>
              <a:t> Expand beyond binary cuts to full scores (3–8).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8912" y="4176712"/>
            <a:ext cx="4862512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334155"/>
                </a:solidFill>
                <a:latin typeface="Plus Jakarta Sans"/>
              </a:rPr>
              <a:t>• </a:t>
            </a:r>
            <a:r>
              <a:rPr b="1" sz="1275" i="0" u="none">
                <a:solidFill>
                  <a:srgbClr val="334155"/>
                </a:solidFill>
                <a:latin typeface="Plus Jakarta Sans"/>
              </a:rPr>
              <a:t>Resampling Techniques:</a:t>
            </a:r>
            <a:r>
              <a:rPr b="0" sz="1275" i="0" u="none">
                <a:solidFill>
                  <a:srgbClr val="334155"/>
                </a:solidFill>
                <a:latin typeface="Plus Jakarta Sans"/>
              </a:rPr>
              <a:t> Evaluate SMOTE / ADASYN on minority detection.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8912" y="4710112"/>
            <a:ext cx="4862512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334155"/>
                </a:solidFill>
                <a:latin typeface="Plus Jakarta Sans"/>
              </a:rPr>
              <a:t>• </a:t>
            </a:r>
            <a:r>
              <a:rPr b="1" sz="1275" i="0" u="none">
                <a:solidFill>
                  <a:srgbClr val="334155"/>
                </a:solidFill>
                <a:latin typeface="Plus Jakarta Sans"/>
              </a:rPr>
              <a:t>Edge Deployment:</a:t>
            </a:r>
            <a:r>
              <a:rPr b="0" sz="1275" i="0" u="none">
                <a:solidFill>
                  <a:srgbClr val="334155"/>
                </a:solidFill>
                <a:latin typeface="Plus Jakarta Sans"/>
              </a:rPr>
              <a:t> Quantize model for handheld spectroscopic winery tools.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0D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810250" y="4070895"/>
            <a:ext cx="571500" cy="28575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98539" y="2310705"/>
            <a:ext cx="6994921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FB7185"/>
                </a:solidFill>
                <a:latin typeface="Plus Jakarta Sans"/>
              </a:rPr>
              <a:t>KL UNIVERSITY • DEPT OF COMPUTER SCIENCE &amp;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52032" y="2644080"/>
            <a:ext cx="3487935" cy="676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4200" i="0" u="none">
                <a:solidFill>
                  <a:srgbClr val="FFFFFF"/>
                </a:solidFill>
                <a:latin typeface="Space Grotesk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95562" y="3510855"/>
            <a:ext cx="7000875" cy="293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310"/>
              </a:lnSpc>
            </a:pPr>
            <a:r>
              <a:rPr b="0" sz="1650" i="0" u="none">
                <a:solidFill>
                  <a:srgbClr val="CBD5E1"/>
                </a:solidFill>
                <a:latin typeface="Plus Jakarta Sans"/>
              </a:rPr>
              <a:t>Questions, feedback, and discussion are warmly invited.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32371" y="4366170"/>
            <a:ext cx="2964656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94A3B8"/>
                </a:solidFill>
                <a:latin typeface="Plus Jakarta Sans"/>
              </a:rPr>
              <a:t>M. CharanTej Reddy (2520030422)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86287" y="4366170"/>
            <a:ext cx="36195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94A3B8"/>
                </a:solidFill>
                <a:latin typeface="Plus Jakarta San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20828" y="4366170"/>
            <a:ext cx="3131343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94A3B8"/>
                </a:solidFill>
                <a:latin typeface="Plus Jakarta Sans"/>
              </a:rPr>
              <a:t>Chandrakanth Reddy (2520030290)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4762" y="4366170"/>
            <a:ext cx="36195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94A3B8"/>
                </a:solidFill>
                <a:latin typeface="Plus Jakarta San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23596" y="4366170"/>
            <a:ext cx="2488406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94A3B8"/>
                </a:solidFill>
                <a:latin typeface="Plus Jakarta Sans"/>
              </a:rPr>
              <a:t>Supervisor: Dr. Jyothsna Datti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