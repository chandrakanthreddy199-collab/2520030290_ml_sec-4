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244703"/>
            <a:ext cx="11239500" cy="12322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50901"/>
            <a:ext cx="4452937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698551"/>
            <a:ext cx="117157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FBBF24"/>
                </a:solidFill>
                <a:latin typeface="Poppins"/>
              </a:rPr>
              <a:t>Wine Quality Prediction Using Decision Tree, Random Forest, and Gradient Boosting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679626"/>
            <a:ext cx="1123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Comparative Performance Evaluation of Supervised Classification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5406628"/>
            <a:ext cx="605528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oppins"/>
              </a:rPr>
              <a:t>SUBMITTED BY (BATCH STUDENTS)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5" y="5644753"/>
            <a:ext cx="576694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4375" y="5730478"/>
            <a:ext cx="5766941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M. CharanTej Reddy</a:t>
            </a:r>
            <a:r>
              <a:rPr sz="1050" b="0" i="0" u="none">
                <a:solidFill>
                  <a:srgbClr val="F1F5F9"/>
                </a:solidFill>
                <a:latin typeface="Inter"/>
              </a:rPr>
              <a:t> — Roll No: 2520030422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5917108"/>
            <a:ext cx="5766941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Chandrakanth Reddy</a:t>
            </a:r>
            <a:r>
              <a:rPr sz="1050" b="0" i="0" u="none">
                <a:solidFill>
                  <a:srgbClr val="F1F5F9"/>
                </a:solidFill>
                <a:latin typeface="Inter"/>
              </a:rPr>
              <a:t> — Roll No: 2520030290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6141839"/>
            <a:ext cx="5766941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Program: Bachelor of Technology (B.Tech) -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816" y="5406628"/>
            <a:ext cx="50459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oppins"/>
              </a:rPr>
              <a:t>UNDER THE GUIDANCE 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1816" y="5644753"/>
            <a:ext cx="48056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816" y="5730478"/>
            <a:ext cx="480566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FDE047"/>
                </a:solidFill>
                <a:latin typeface="Inter"/>
              </a:rPr>
              <a:t>Dr. Jyothsna Datti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816" y="5917108"/>
            <a:ext cx="480566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1F5F9"/>
                </a:solidFill>
                <a:latin typeface="Inter"/>
              </a:rPr>
              <a:t>Professor, Department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816" y="6141839"/>
            <a:ext cx="480566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Koneru Lakshmaiah Education Foundation (KLH)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26873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Industry Relevance: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Wine quality certification relies heavily on expensive, subjective human sensory testing and laboratory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8788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Automated Assessment: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Machine Learning enables fast, objective quality scoring derived strictly from measurable physicochemical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90703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Core Research Objective: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Implement, tune, and rigorously compare 3 tree-based classifiers—Decision Tree, Random Forest, and Gradient Boosting.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72618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Key Metric Focus: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Evaluate performance using Accuracy, Precision, Recall, and F1-Score to establish the most reliable predictive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Project Abstract &amp;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778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10693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92608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4523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66342"/>
            <a:ext cx="11125200" cy="31194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2925" y="2175867"/>
          <a:ext cx="11106149" cy="310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5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Chemical Measurement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Impact on Wine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Volatile Acidity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g(acetic acid)/dm³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levels cause an undesirable vinegar-like taste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Citric Acid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Adds freshness and crisp flavor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Residual Sugar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Determines sweetness remaining after fermentation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Chlorides &amp; Sulphates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g(NaCl)/dm³ &amp; g(K₂SO₄)/dm³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Contributes to saltiness and antimicrobial protection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Alcohol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% by volume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Strong positive correlation with expert quality ratings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Target Variable (Quality)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Score (0 - 10)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Converted to Binary Class (Low Quality &lt; 6.5, High Quality ≥ 6.5)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2925" y="30807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71217" y="30807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23359" y="30807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351889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71217" y="351889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23359" y="351889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9570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71217" y="39570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23359" y="39570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39519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71217" y="439519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23359" y="439519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4833342"/>
            <a:ext cx="25282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71217" y="4833342"/>
            <a:ext cx="2852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23359" y="4833342"/>
            <a:ext cx="572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Wine Dataset &amp;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06885"/>
            <a:ext cx="3555950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06885"/>
            <a:ext cx="3555950" cy="2038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706885"/>
            <a:ext cx="3556099" cy="2038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73585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352603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1.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897510"/>
            <a:ext cx="3155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Inspected null values, verified numerical datatypes, and removed duplicate rows to prevent data leakage across split partitions.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975" y="2973585"/>
            <a:ext cx="43815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975" y="3526035"/>
            <a:ext cx="33136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2. Feature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3897510"/>
            <a:ext cx="31559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Applied StandardScaler to standardize continuous attributes to zero mean and unit variance for uniform gradient convergence.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2973585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2525" y="3526035"/>
            <a:ext cx="33138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3. Train-Test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897510"/>
            <a:ext cx="31560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Segmented dataset into 80% Training set and 20% Holdout Testing set with stratified sampling to preserve target class proportions.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" y="3097410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1800" y="3097410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063" y="3097410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Preprocessing &amp; EDA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1779"/>
            <a:ext cx="5391150" cy="32684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16310"/>
            <a:ext cx="53911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463504"/>
            <a:ext cx="4914900" cy="658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329904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Classification Workflow 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925835"/>
            <a:ext cx="537210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225" y="272995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Input Vector: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11 physicochemical attributes extracted per wine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32050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Target Class: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Binary decision modeling (0: Standard Quality, 1: Premium Quality).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911054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Evaluation Suite: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Multi-metric scoring matrix computed via Scikit-Learn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4587329"/>
            <a:ext cx="4524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284C7"/>
                </a:solidFill>
                <a:latin typeface="Inter SemiBold"/>
              </a:rPr>
              <a:t>F1-Score Formula: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4844355"/>
            <a:ext cx="1293614" cy="153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Machine Learning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749004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339554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93010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02085"/>
            <a:ext cx="53911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02085"/>
            <a:ext cx="5391150" cy="2647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640210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Algorithm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081635"/>
            <a:ext cx="4914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Constructs a non-parametric decision rule hierarchy by recursively partitioning sample feature space based on maximum information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2640210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Hyperparameter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4142184"/>
            <a:ext cx="4524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284C7"/>
                </a:solidFill>
                <a:latin typeface="Inter SemiBold"/>
              </a:rPr>
              <a:t>Gini Impurity Criterion: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04026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Criterion: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Gini Impurity for optimal computational split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40221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Max Depth: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Tuned to 6 levels to prevent overfitting on training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992760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Min Samples Split: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Set to 5 samples per internal decision node.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35471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Observation: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High interpretability, but prone to high variance on test sets.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4366021"/>
            <a:ext cx="1036439" cy="32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Decision Tree Classifier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059310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42126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01181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437376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3998"/>
            <a:ext cx="5391150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63998"/>
            <a:ext cx="5391150" cy="2524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702123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Bagging &amp; Feature Subsampling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702123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Model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102173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Builds an ensemble of uncorrelated decision trees trained on bootstrap samples of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692723"/>
            <a:ext cx="4648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Selects a random subset of features at each split (max_features='sqrt'), reducing inter-tree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9279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Aggregates tree predictions via majority voting to yield robust final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340298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Num Estimators: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100 decision trees constructed in parallel.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70224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Variance Reduction: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Drastically reduces model overfitting compared to a single Decision Tree.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292798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Out-of-Bag (OOB):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Internal validation capability during bootstrap sampling.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Random Forest Ensemble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121223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11773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11848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359348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721298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31184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8760"/>
            <a:ext cx="5391150" cy="2514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468760"/>
            <a:ext cx="539115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7068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Sequential Boosting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7068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Tuning &amp;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1069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Constructs weak learner decision trees sequentially rather than in parallel.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69748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Each subsequent tree fits directly to the residual errors (pseudo-residuals) of the prior model ensemble.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880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Optimizes a differentiable loss function using gradient descent techniques.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20218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Learning Rate (η):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0.1 to shrink the contribution of each tree.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56413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N-Estimators: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150 sequential boosting iterations.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926085"/>
            <a:ext cx="464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Subsample: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0.8 for stochastic gradient boosting stability.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42880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Strength: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Achieves high accuracy on subtle non-linear chemical interactions.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Gradient Boosting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12598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71653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30708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22123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58318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945135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30708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99729"/>
            <a:ext cx="11125200" cy="1862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652367"/>
            <a:ext cx="11125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1" u="none">
                <a:solidFill>
                  <a:srgbClr val="64748B"/>
                </a:solidFill>
                <a:latin typeface="Inter"/>
              </a:rPr>
              <a:t>* Evaluation performed on 20% stratified test dataset using Scikit-Learn evaluation suite.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2609254"/>
          <a:ext cx="11106146" cy="1843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7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8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Machine Learning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Overall 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Decision Tree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78.4%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Rank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Random Forest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86.8%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Runner 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77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Gradient Boosting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89.2%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D4ED8"/>
                          </a:solidFill>
                          <a:latin typeface="Inter"/>
                        </a:rPr>
                        <a:t>Best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3514129"/>
            <a:ext cx="328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30389" y="3514129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45472" y="3514129"/>
            <a:ext cx="1557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03405" y="3514129"/>
            <a:ext cx="1214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18289" y="3514129"/>
            <a:ext cx="147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90496" y="3514129"/>
            <a:ext cx="1958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980854"/>
            <a:ext cx="3287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30389" y="3980854"/>
            <a:ext cx="1615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45472" y="3980854"/>
            <a:ext cx="15579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03405" y="3980854"/>
            <a:ext cx="1214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8289" y="3980854"/>
            <a:ext cx="147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90496" y="3980854"/>
            <a:ext cx="19585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496" y="3676053"/>
            <a:ext cx="7620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496" y="4123729"/>
            <a:ext cx="8001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Performance Metrics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13370"/>
            <a:ext cx="11125200" cy="54255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630935"/>
            <a:ext cx="11125200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Feature Importance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1635"/>
            <a:ext cx="266700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611635"/>
            <a:ext cx="266700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11635"/>
            <a:ext cx="266700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611635"/>
            <a:ext cx="2667000" cy="1038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02260"/>
            <a:ext cx="2667000" cy="1038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802260"/>
            <a:ext cx="2667000" cy="1038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02260"/>
            <a:ext cx="2667000" cy="1038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3802260"/>
            <a:ext cx="2667000" cy="1038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362" y="2754510"/>
            <a:ext cx="2190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7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Python 3.10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Core Programming Language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137" y="2754510"/>
            <a:ext cx="3143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61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56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ML Models &amp; Pipeline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75" y="2754510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555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Matplotlib / Seaborn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0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EDA &amp; Visualizations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7937" y="2754510"/>
            <a:ext cx="3143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74943" y="3078360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Google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3335535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Cloud Execution IDE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362" y="3945135"/>
            <a:ext cx="219075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67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Pandas &amp; 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Data Wrangling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6762" y="3945135"/>
            <a:ext cx="219075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361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Windows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56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Host Environment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8537" y="3945135"/>
            <a:ext cx="314325" cy="2476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555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Anaconda / Pip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Package Management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1275" y="3945135"/>
            <a:ext cx="247650" cy="2476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74943" y="4268985"/>
            <a:ext cx="25003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Wine CSV Dataset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475" y="4526160"/>
            <a:ext cx="2381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Physicochemical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Technical Specifications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54460"/>
            <a:ext cx="539115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54460"/>
            <a:ext cx="539115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25925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Summary of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592585"/>
            <a:ext cx="51606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oppins"/>
              </a:rPr>
              <a:t>Future Scope &amp;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29926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Best Performing Model: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Gradient Boosting achieved the highest accuracy of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89.2%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and F1-score of 0.88.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583185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Ensemble Advantage: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Ensemble models (RF and Gradient Boosting) significantly outmatched the single Decision Tree (78.4%).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4023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Objective Assessment: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Confirmed machine learning as a viable, fast alternative to subjective sensory panels.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2212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Web Deployment: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Deploy model via Streamlit / Flask web API for real-time vineyard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81178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Deep Learning Exploration: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Experiment with Multi-Layer Perceptrons (MLP) for multi-class rating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402335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Expanded Dataset: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Incorporate viticulture geographic data and fermentation climate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1712" y="190500"/>
            <a:ext cx="17668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 SemiBold"/>
              </a:rPr>
              <a:t>KLH CSE • ML PROJECT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9100"/>
            <a:ext cx="11506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881337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19100"/>
            <a:ext cx="47625" cy="36567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8275" y="6562725"/>
            <a:ext cx="26003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 Medium"/>
              </a:rPr>
              <a:t>Department of Computer Science &amp; Engineering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01168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60223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42138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24028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83083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42138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1001</Words>
  <Application>Microsoft Office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MUDIREDDY CHARANTEJ REDDY .</cp:lastModifiedBy>
  <cp:revision>3</cp:revision>
  <dcterms:created xsi:type="dcterms:W3CDTF">2013-01-27T09:14:16Z</dcterms:created>
  <dcterms:modified xsi:type="dcterms:W3CDTF">2026-09-23T05:34:28Z</dcterms:modified>
  <cp:category/>
</cp:coreProperties>
</file>